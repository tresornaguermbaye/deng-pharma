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685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DENG PHARMA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BAB5"/>
                </a:solidFill>
                <a:latin typeface="Calibri"/>
              </a:rPr>
              <a:t>Système intelligent de gestion pharmaceutique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CONCEPTION ET DÉVELOPPEMENT D'UN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BAB5"/>
                </a:solidFill>
                <a:latin typeface="Calibri"/>
              </a:rPr>
              <a:t>SYSTÈME INTELLIGENT D'AIDE À LA DÉCISION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POUR L'OPTIMISATION DES STOCKS PHARMACEUTIQUES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BASÉ SUR LE MACHINE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34840"/>
            <a:ext cx="3657600" cy="2743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ABAB5"/>
                </a:solidFill>
                <a:latin typeface="Calibri"/>
              </a:rPr>
              <a:t>Présenté par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NAGUERMBAYE TRESOR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ABAB5"/>
                </a:solidFill>
                <a:latin typeface="Calibri"/>
              </a:rPr>
              <a:t>Sous la direction de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M. BRAHIM ISSA HASSABALAH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ENASTIC  •  Année universitaire 2025-2026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Licence en Informatique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6 parties — 15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91440" cy="109728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BAB5"/>
                </a:solidFill>
                <a:latin typeface="Calibri"/>
              </a:rPr>
              <a:t>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A2C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Enjeu de santé publique au Tchad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9144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  <a:latin typeface="Calibri"/>
              </a:rPr>
              <a:t>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A2C"/>
                </a:solidFill>
                <a:latin typeface="Calibri"/>
              </a:rPr>
              <a:t>SOLUTION PROPOSÉE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Architecture et technologies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9144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6B"/>
                </a:solidFill>
                <a:latin typeface="Calibri"/>
              </a:rPr>
              <a:t>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A2C"/>
                </a:solidFill>
                <a:latin typeface="Calibri"/>
              </a:rPr>
              <a:t>DÉMONSTRATION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Application en direct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9144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77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libri"/>
              </a:rPr>
              <a:t>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A2C"/>
                </a:solidFill>
                <a:latin typeface="Calibri"/>
              </a:rPr>
              <a:t>RÉSULTATS EXPÉRIMENTAUX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Performance du modèle 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8404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297680"/>
            <a:ext cx="914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77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526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A2C"/>
                </a:solidFill>
                <a:latin typeface="Calibri"/>
              </a:rPr>
              <a:t>LIMITES &amp; PERSPECTIVES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Analyse critique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8404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297680"/>
            <a:ext cx="91440" cy="1097280"/>
          </a:xfrm>
          <a:prstGeom prst="rect">
            <a:avLst/>
          </a:prstGeom>
          <a:solidFill>
            <a:srgbClr val="0F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977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A2C"/>
                </a:solidFill>
                <a:latin typeface="Calibri"/>
              </a:rPr>
              <a:t>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26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A2C"/>
                </a:solidFill>
                <a:latin typeface="Calibri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Bilan et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Le problème au Tchad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Disponibilité des médicaments essentiels — Rapport OMS/MSP 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ABAB5"/>
                </a:solidFill>
                <a:latin typeface="Calibri"/>
              </a:rPr>
              <a:t>52,6%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Secteur public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2004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6B6B"/>
                </a:solidFill>
                <a:latin typeface="Calibri"/>
              </a:rPr>
              <a:t>48%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Pharmacies privées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383280" cy="15544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9E0B"/>
                </a:solidFill>
                <a:latin typeface="Calibr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874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A2C"/>
                </a:solidFill>
                <a:latin typeface="Calibri"/>
              </a:rPr>
              <a:t>Sur 10 médicaments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2C"/>
                </a:solidFill>
                <a:latin typeface="Calibri"/>
              </a:rPr>
              <a:t>essentiels, seulement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Calibri"/>
              </a:rPr>
              <a:t>5 sont disponibles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soit 1 patient sur 2 pénalisé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A2C"/>
                </a:solidFill>
                <a:latin typeface="Calibri"/>
              </a:rPr>
              <a:t>CAUSES PRINCIPALES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265176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F1A2C"/>
                </a:solidFill>
                <a:latin typeface="Calibri"/>
              </a:rPr>
              <a:t>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A2C"/>
                </a:solidFill>
                <a:latin typeface="Calibri"/>
              </a:rPr>
              <a:t>Circuits d'approvisionnement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instables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114800"/>
            <a:ext cx="265176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4251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F1A2C"/>
                </a:solidFill>
                <a:latin typeface="Calibri"/>
              </a:rPr>
              <a:t>⏱️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A2C"/>
                </a:solidFill>
                <a:latin typeface="Calibri"/>
              </a:rPr>
              <a:t>Délais de livraison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très longs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114800"/>
            <a:ext cx="265176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251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F1A2C"/>
                </a:solidFill>
                <a:latin typeface="Calibri"/>
              </a:rPr>
              <a:t>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A2C"/>
                </a:solidFill>
                <a:latin typeface="Calibri"/>
              </a:rPr>
              <a:t>Capacité de stockage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limitée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4114800"/>
            <a:ext cx="265176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4251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F1A2C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892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A2C"/>
                </a:solidFill>
                <a:latin typeface="Calibri"/>
              </a:rPr>
              <a:t>Gestion empirique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5212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non automatisée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Problématique &amp; Objectifs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0F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BAB5"/>
                </a:solidFill>
                <a:latin typeface="Calibri"/>
              </a:rPr>
              <a:t>❓ 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Comment exploiter le Machine Learning pour optimiser
les stocks pharmaceutiques au Tchad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A2C"/>
                </a:solidFill>
                <a:latin typeface="Calibri"/>
              </a:rPr>
              <a:t>4 OBJECTIFS SPÉCIFIQUES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2651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3080" y="3931919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400507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A2C"/>
                </a:solidFill>
                <a:latin typeface="Calibri"/>
              </a:rPr>
              <a:t>Réduire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les pertes économiques
liées au surstockage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749039"/>
            <a:ext cx="2651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3931919"/>
            <a:ext cx="640080" cy="640080"/>
          </a:xfrm>
          <a:prstGeom prst="ellipse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0507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7091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A2C"/>
                </a:solidFill>
                <a:latin typeface="Calibri"/>
              </a:rPr>
              <a:t>Garantir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0749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la disponibilité
des médicaments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2651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20" y="3931919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400507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A2C"/>
                </a:solidFill>
                <a:latin typeface="Calibri"/>
              </a:rPr>
              <a:t>Recommander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749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les quantités optimales
à commander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749039"/>
            <a:ext cx="2651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9840" y="393191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400507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7091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A2C"/>
                </a:solidFill>
                <a:latin typeface="Calibri"/>
              </a:rPr>
              <a:t>Développer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50749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une application de
visualisation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Comparaison des solutions existantes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Aucune solution ne couvre tous les besoins identifiés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1920240"/>
                <a:gridCol w="1920240"/>
                <a:gridCol w="192024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Critère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Odoo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SAP S/4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NetSuite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DENG PHARMA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Gestion des stocks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BAB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Gestion des ventes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BAB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Prévision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BAB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Détection ruptures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BAB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Score de criticité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BAB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Recommandation auto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BAB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Adapté au Tchad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A2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BAB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Architecture du système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Microservices • Séparation des responsabilités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3716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🎨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Next.js + React +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659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Interface utilisateur moderne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6984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37160" cy="777240"/>
          </a:xfrm>
          <a:prstGeom prst="rect">
            <a:avLst/>
          </a:prstGeom>
          <a:solidFill>
            <a:srgbClr val="0F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A2C"/>
                </a:solidFill>
                <a:latin typeface="Calibri"/>
              </a:rPr>
              <a:t>⚙️ 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Django + DRF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346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Logique métier &amp; API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137160" cy="77724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BAB5"/>
                </a:solidFill>
                <a:latin typeface="Calibri"/>
              </a:rPr>
              <a:t>🤖  SERVICE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FastAPI + 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033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Prédictions &amp; recommandations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43400"/>
            <a:ext cx="106984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43400"/>
            <a:ext cx="13716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💾 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PostgreSQL + 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5720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Persistance &amp; cache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12080"/>
            <a:ext cx="13716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⏱️  ASYNCHRONE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Celery + 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440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Traitements en arrière-plan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Choix du modèle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Comparaison de 4 algorithmes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6517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6B6B"/>
                </a:solidFill>
                <a:latin typeface="Calibri"/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A2C"/>
                </a:solidFill>
                <a:latin typeface="Calibri"/>
              </a:rPr>
              <a:t>Régression
Linéaire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✅ Simple,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⚠️ Linéaire uniquement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37360"/>
            <a:ext cx="26517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59E0B"/>
                </a:solidFill>
                <a:latin typeface="Calibri"/>
              </a:rPr>
              <a:t>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A2C"/>
                </a:solidFill>
                <a:latin typeface="Calibri"/>
              </a:rPr>
              <a:t>Random
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✅ Robuste, non-linéaire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⚠️ Lourd, boîte noire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2651760" cy="3200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0ABAB5"/>
                </a:solidFill>
                <a:latin typeface="Calibri"/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A2C"/>
                </a:solidFill>
                <a:latin typeface="Calibri"/>
              </a:rPr>
              <a:t>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✅ Précis (R²&gt;0.95), rapide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⚠️ Standard de l'industrie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389120"/>
            <a:ext cx="1371600" cy="320040"/>
          </a:xfrm>
          <a:prstGeom prst="round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CHOIX RETENU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737360"/>
            <a:ext cx="26517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920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3B82F6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A2C"/>
                </a:solidFill>
                <a:latin typeface="Calibri"/>
              </a:rPr>
              <a:t>Prophet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✅ Saisonnalité auto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⚠️ Séries temporelles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Dataset et entraînement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Pipeline MLOps complet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ABAB5"/>
                </a:solidFill>
                <a:latin typeface="Calibri"/>
              </a:rPr>
              <a:t>10 950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lignes de données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B82F6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médicaments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0B981"/>
                </a:solidFill>
                <a:latin typeface="Calibri"/>
              </a:rPr>
              <a:t>2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de période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A2C"/>
                </a:solidFill>
                <a:latin typeface="Calibri"/>
              </a:rPr>
              <a:t>32 FEATURES ENGINEERÉES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2C"/>
                </a:solidFill>
                <a:latin typeface="Calibri"/>
              </a:rPr>
              <a:t>•  Lags (1, 2, 3, ..., 30 jours)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2C"/>
                </a:solidFill>
                <a:latin typeface="Calibri"/>
              </a:rPr>
              <a:t>•  Rolling stats (moyennes, écart-types)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2C"/>
                </a:solidFill>
                <a:latin typeface="Calibri"/>
              </a:rPr>
              <a:t>•  Saisonnalité Tchad (saison des pluies)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2C"/>
                </a:solidFill>
                <a:latin typeface="Calibri"/>
              </a:rPr>
              <a:t>•  Contexte métier (prix, criticité, stock)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A2C"/>
                </a:solidFill>
                <a:latin typeface="Calibri"/>
              </a:rPr>
              <a:t>SPLIT 70 / 15 / 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840480"/>
            <a:ext cx="5029200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840480"/>
            <a:ext cx="3520440" cy="54864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 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3840480"/>
            <a:ext cx="75438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913632"/>
            <a:ext cx="754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VAL
15%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58500" y="3840480"/>
            <a:ext cx="754380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58500" y="3913632"/>
            <a:ext cx="754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TEST
15%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FFF4E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A2C"/>
                </a:solidFill>
                <a:latin typeface="Calibri"/>
              </a:rPr>
              <a:t>🎯  Optimisation Optuna : 30 trials hyperparamètres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59936" cy="9144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0"/>
            <a:ext cx="4059936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0"/>
            <a:ext cx="4059936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0ABAB5"/>
                </a:solidFill>
                <a:latin typeface="Calibri"/>
              </a:rPr>
              <a:t>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DÉMONSTRATION EN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BAB5"/>
                </a:solidFill>
                <a:latin typeface="Calibri"/>
              </a:rPr>
              <a:t>Application DENG PHARMA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80"/>
            <a:ext cx="4846320" cy="822960"/>
          </a:xfrm>
          <a:prstGeom prst="roundRect">
            <a:avLst/>
          </a:prstGeom>
          <a:solidFill>
            <a:srgbClr val="1A2A3C"/>
          </a:solidFill>
          <a:ln w="1270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BAB5"/>
                </a:solidFill>
                <a:latin typeface="Calibri"/>
              </a:rPr>
              <a:t>→  http://localhost:3000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Login : admin  •  Mot de passe : ••••••••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Performances du modèle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Évaluation sur 1 590 observations du jeu de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7889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ABAB5"/>
                </a:solidFill>
                <a:latin typeface="Calibri"/>
              </a:rPr>
              <a:t>0,959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7889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3736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B82F6"/>
                </a:solidFill>
                <a:latin typeface="Calibri"/>
              </a:rPr>
              <a:t>7,55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60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MAE (unités)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7889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9E0B"/>
                </a:solidFill>
                <a:latin typeface="Calibri"/>
              </a:rPr>
              <a:t>19,22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RMSE (unités)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45920"/>
            <a:ext cx="27889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3736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6B6B"/>
                </a:solidFill>
                <a:latin typeface="Calibri"/>
              </a:rPr>
              <a:t>12,25%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MAPE</a:t>
            </a:r>
          </a:p>
        </p:txBody>
      </p:sp>
      <p:pic>
        <p:nvPicPr>
          <p:cNvPr id="18" name="Picture 17" descr="01_reel_vs_predit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11247120" cy="52763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Analyse des erreurs de prédiction</a:t>
            </a:r>
          </a:p>
        </p:txBody>
      </p:sp>
      <p:pic>
        <p:nvPicPr>
          <p:cNvPr id="5" name="Picture 4" descr="05_distribution_err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44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94960"/>
            <a:ext cx="356616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52%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5532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des prédictions
&lt; 10% d'erreur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394960"/>
            <a:ext cx="356616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54864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5532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des prédictions
&lt; 20% d'erreur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5394960"/>
            <a:ext cx="3566160" cy="1097280"/>
          </a:xfrm>
          <a:prstGeom prst="round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54864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5532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des prédictions
&lt; 30% d'erreur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Synthèse des performances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Vue d'ensemble en une image</a:t>
            </a:r>
          </a:p>
        </p:txBody>
      </p:sp>
      <p:pic>
        <p:nvPicPr>
          <p:cNvPr id="6" name="Picture 5" descr="06_dashboar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81115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XGBoost vs LightGBM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Comparaison des deux meilleurs modèles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737360"/>
          <a:ext cx="9144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Métrique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Gagnant</a:t>
                      </a:r>
                    </a:p>
                  </a:txBody>
                  <a:tcPr>
                    <a:solidFill>
                      <a:srgbClr val="0F1A2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7,55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7,71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🏆 XGBoost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19,22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18,27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🏆 LightGBM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12,25%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13,92%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🏆 XGBoost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0,959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0,963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🏆 LightGBM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Vitesse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Rapide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🏆 LightGBM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Mémoire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🏆 LightGBM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Maturité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1A2C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B981"/>
                          </a:solidFill>
                          <a:latin typeface="Calibri"/>
                        </a:rPr>
                        <a:t>🏆 XGBoost</a:t>
                      </a:r>
                    </a:p>
                  </a:txBody>
                  <a:tcPr>
                    <a:solidFill>
                      <a:srgbClr val="E0F7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371600" y="5852160"/>
            <a:ext cx="9144000" cy="548640"/>
          </a:xfrm>
          <a:prstGeom prst="round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✅  CHOIX FINAL : XGBoost  —  meilleur MAPE + maturité industrielle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Fonctionnalités clés du système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ABAB5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A2C"/>
                </a:solidFill>
                <a:latin typeface="Calibri"/>
              </a:rPr>
              <a:t>Chat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Assistant conversationnel
avec mémoire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8288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ABAB5"/>
                </a:solidFill>
                <a:latin typeface="Calibri"/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A2C"/>
                </a:solidFill>
                <a:latin typeface="Calibri"/>
              </a:rPr>
              <a:t>Prédictions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Prévisions à 7 jours
avec bornes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8288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ABAB5"/>
                </a:solidFill>
                <a:latin typeface="Calibri"/>
              </a:rPr>
              <a:t>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A2C"/>
                </a:solidFill>
                <a:latin typeface="Calibri"/>
              </a:rPr>
              <a:t>Alertes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Ruptures et expirations
détectées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ABAB5"/>
                </a:solidFill>
                <a:latin typeface="Calibri"/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A2C"/>
                </a:solidFill>
                <a:latin typeface="Calibri"/>
              </a:rPr>
              <a:t>Recommandations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Quantités optimales
à commander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84048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4023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ABAB5"/>
                </a:solidFill>
                <a:latin typeface="Calibri"/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00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A2C"/>
                </a:solidFill>
                <a:latin typeface="Calibri"/>
              </a:rPr>
              <a:t>Score de criticité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Priorisation des
médicaments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84048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4023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ABAB5"/>
                </a:solidFill>
                <a:latin typeface="Calibr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800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A2C"/>
                </a:solidFill>
                <a:latin typeface="Calibri"/>
              </a:rPr>
              <a:t>Explicabilité SHAP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Interprétation des
prédictions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Limites identifiées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Analyse critique et transparente du système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941832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737360"/>
            <a:ext cx="13716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9E0B"/>
                </a:solidFill>
                <a:latin typeface="Calibri"/>
              </a:rP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74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A2C"/>
                </a:solidFill>
                <a:latin typeface="Calibri"/>
              </a:rPr>
              <a:t>Saisonnalité Tchad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40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Non validée sur le dataset Kaggle — origine géographique non documentée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788920"/>
            <a:ext cx="941832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788920"/>
            <a:ext cx="137160" cy="960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6B"/>
                </a:solidFill>
                <a:latin typeface="Calibri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A2C"/>
                </a:solidFill>
                <a:latin typeface="Calibri"/>
              </a:rPr>
              <a:t>Dépendance réseau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91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Le LLM (chat IA) nécessite une connexion Internet stable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840480"/>
            <a:ext cx="941832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840480"/>
            <a:ext cx="137160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B82F6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A2C"/>
                </a:solidFill>
                <a:latin typeface="Calibri"/>
              </a:rPr>
              <a:t>Volume de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343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Limité à 2 ans d'historique — pourrait être étendu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892040"/>
            <a:ext cx="941832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892040"/>
            <a:ext cx="13716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120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9E0B"/>
                </a:solidFill>
                <a:latin typeface="Calibri"/>
              </a:rPr>
              <a:t>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A2C"/>
                </a:solidFill>
                <a:latin typeface="Calibri"/>
              </a:rPr>
              <a:t>Validation terrain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Pas encore testé en conditions réelles de pharmacie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Perspectives d'amélioration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Roadmap à court, moyen et long terme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1005840"/>
          </a:xfrm>
          <a:prstGeom prst="round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📱  COURT TERME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3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Application mobile React 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Validation terrain en pharmacie pilote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Tableau de bord enrichi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737360"/>
            <a:ext cx="356616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56616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74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📡  MOYEN TERME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6-12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Capteurs IoT (température, humidité)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Intégration fournisseurs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663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Notifications SMS et 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1737360"/>
            <a:ext cx="356616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0" y="1737360"/>
            <a:ext cx="3566160" cy="1005840"/>
          </a:xfrm>
          <a:prstGeom prst="roundRect">
            <a:avLst/>
          </a:prstGeom>
          <a:solidFill>
            <a:srgbClr val="0F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874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🏥  LONG TERME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1-2 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017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Extension aux structures publiques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Réseau multi-pharmacies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663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A2C"/>
                </a:solidFill>
                <a:latin typeface="Calibri"/>
              </a:rPr>
              <a:t>• Intégration ministère de la santé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A2C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37160" cy="1371600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0ABAB5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20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BAB5"/>
                </a:solidFill>
                <a:latin typeface="Calibri"/>
              </a:rPr>
              <a:t>PROBLÉMATIQUE RÉSOLUE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77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A2C"/>
                </a:solidFill>
                <a:latin typeface="Calibri"/>
              </a:rPr>
              <a:t>Système intelligent d'aide à la décision
basé sur le Machine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103327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200400"/>
            <a:ext cx="1371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5204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10B981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RÉSULTATS CLÉS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40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A2C"/>
                </a:solidFill>
                <a:latin typeface="Calibri"/>
              </a:rPr>
              <a:t>MAPE 12,25%  •  R² 0,959
94% des prédictions &lt; 30% d'erreur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103327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663440"/>
            <a:ext cx="13716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3B82F6"/>
                </a:solidFill>
                <a:latin typeface="Calibri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IMPACT ATTENDU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303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A2C"/>
                </a:solidFill>
                <a:latin typeface="Calibri"/>
              </a:rPr>
              <a:t>Amélioration de la disponibilité
des médicaments au Tchad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DENG PHARMA — Soutenance PFE 2025-2026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73152"/>
          </a:xfrm>
          <a:prstGeom prst="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0ABAB5"/>
                </a:solidFill>
                <a:latin typeface="Calibri"/>
              </a:rPr>
              <a:t>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017520" cy="731520"/>
          </a:xfrm>
          <a:prstGeom prst="roundRect">
            <a:avLst/>
          </a:prstGeom>
          <a:solidFill>
            <a:srgbClr val="0A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BAB5"/>
                </a:solidFill>
                <a:latin typeface="Calibri"/>
              </a:rPr>
              <a:t>🏥  DENG PHARMA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